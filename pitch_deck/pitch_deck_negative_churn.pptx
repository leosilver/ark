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LTV/CAC</c:v>
                </c:pt>
              </c:strCache>
            </c:strRef>
          </c:tx>
          <c:spPr>
            <a:solidFill>
              <a:srgbClr val="2563EB"/>
            </a:solidFill>
          </c:spPr>
          <c:dPt>
            <c:idx val="0"/>
            <c:spPr>
              <a:solidFill>
                <a:srgbClr val="93B4F7"/>
              </a:solidFill>
            </c:spPr>
          </c:dPt>
          <c:cat>
            <c:strRef>
              <c:f>Sheet1!$A$2:$A$3</c:f>
              <c:strCache>
                <c:ptCount val="2"/>
                <c:pt idx="0">
                  <c:v>初年度</c:v>
                </c:pt>
                <c:pt idx="1">
                  <c:v>3年目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6</c:v>
                </c:pt>
              </c:numCache>
            </c:numRef>
          </c:val>
        </c:ser>
        <c:dLbls>
          <c:numFmt formatCode="0&quot;倍&quot;" sourceLinked="0"/>
          <c:txPr>
            <a:bodyPr/>
            <a:lstStyle/>
            <a:p>
              <a:pPr>
                <a:defRPr sz="2000" b="1">
                  <a:solidFill>
                    <a:srgbClr val="0F172A"/>
                  </a:solidFill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300">
                <a:solidFill>
                  <a:srgbClr val="64748B"/>
                </a:solidFill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xel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003146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874519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INVESTOR BRIEFING ｜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ネガティブ・チャーン &amp; LTV向上の説得ロジック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eiryo"/>
                <a:ea typeface="Meiryo"/>
                <a:cs typeface="Meiryo"/>
              </a:rPr>
              <a:t>税理士チャネルが生む「構造的な」収益拡大の4つの根拠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09160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48920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709160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構造的クロスセル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709160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11880" y="48920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709160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スイッチングコスト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709160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48920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4709160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LTV / CAC 拡大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4709160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89719" y="48920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4709160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シナリオ分析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Meiryo"/>
                <a:ea typeface="Meiryo"/>
                <a:cs typeface="Meiryo"/>
              </a:rPr>
              <a:t>taXel（タクセル）｜ 投資家向け補足資料 ｜ 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投資家が求める「Why &amp; How」の証明</a:t>
            </a:r>
          </a:p>
        </p:txBody>
      </p:sp>
      <p:pic>
        <p:nvPicPr>
          <p:cNvPr id="4" name="Picture 3" descr="taxel_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11480"/>
            <a:ext cx="1333416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463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投資家の問い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91640"/>
            <a:ext cx="8961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なぜ解約が起きても、既存顧客からの売上は伸び続けるのか？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2606040" cy="2331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3063239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063239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軸1 ｜ 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794760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構造的クロスセル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51960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税理士経由で利用プロダクト数が拡大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788920"/>
            <a:ext cx="2606040" cy="2331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1880" y="3063239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063239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軸2 ｜ 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794760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スイッチングコスト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251960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業務インフラ化＋税理士CSで高定着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788920"/>
            <a:ext cx="2606040" cy="2331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3063239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063239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軸3 ｜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94760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LTV / CAC 拡大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51960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初年度3倍 → 3年目6倍以上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2788920"/>
            <a:ext cx="2606040" cy="2331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89720" y="3063239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063239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軸4 ｜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794760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シナリオ分析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251960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保守的な下限とアップサイドを両提示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ネガティブ・チャーンは「期待値」ではなく「構造」から生まれる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軸1 ｜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構造的なクロスセルの仕組み（税理士チャネルの横展開）</a:t>
            </a:r>
          </a:p>
        </p:txBody>
      </p:sp>
      <p:pic>
        <p:nvPicPr>
          <p:cNvPr id="4" name="Picture 3" descr="taxel_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11480"/>
            <a:ext cx="1333416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2416987" cy="13258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19597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9597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税理士事務所を獲得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79191"/>
            <a:ext cx="19597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チャネルの起点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57067" y="2299715"/>
            <a:ext cx="292608" cy="29260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41115" y="1783080"/>
            <a:ext cx="2416987" cy="13258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9715" y="1984248"/>
            <a:ext cx="19597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9715" y="2286000"/>
            <a:ext cx="19597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1プロダクトで導入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715" y="2679191"/>
            <a:ext cx="19597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小さく始める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49543" y="2299715"/>
            <a:ext cx="292608" cy="29260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3591" y="1783080"/>
            <a:ext cx="2416987" cy="13258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2191" y="1984248"/>
            <a:ext cx="19597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191" y="2286000"/>
            <a:ext cx="19597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信頼関係の構築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191" y="2679191"/>
            <a:ext cx="19597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運用実績が蓄積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42019" y="2299715"/>
            <a:ext cx="292608" cy="29260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26067" y="1783080"/>
            <a:ext cx="2416987" cy="132588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54667" y="1984248"/>
            <a:ext cx="19597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667" y="2286000"/>
            <a:ext cx="19597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他プロダクトへ展開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667" y="2679191"/>
            <a:ext cx="19597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DBEAFE"/>
                </a:solidFill>
                <a:latin typeface="Meiryo"/>
                <a:ea typeface="Meiryo"/>
                <a:cs typeface="Meiryo"/>
              </a:rPr>
              <a:t>同一税理士経由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474720"/>
            <a:ext cx="5852160" cy="2697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6576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1税理士あたり利用プロダクト数（イメージ）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5138928"/>
            <a:ext cx="1325880" cy="47548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プロダクトA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76072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1年目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5138928"/>
            <a:ext cx="1325880" cy="47548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プロダクトA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88920" y="4608576"/>
            <a:ext cx="1325880" cy="475488"/>
          </a:xfrm>
          <a:prstGeom prst="roundRect">
            <a:avLst>
              <a:gd name="adj" fmla="val 12000"/>
            </a:avLst>
          </a:prstGeom>
          <a:solidFill>
            <a:srgbClr val="608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＋プロダクトB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576072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2年目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79" y="5138928"/>
            <a:ext cx="1325880" cy="47548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プロダクトA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79" y="4608576"/>
            <a:ext cx="1325880" cy="475488"/>
          </a:xfrm>
          <a:prstGeom prst="roundRect">
            <a:avLst>
              <a:gd name="adj" fmla="val 12000"/>
            </a:avLst>
          </a:prstGeom>
          <a:solidFill>
            <a:srgbClr val="608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＋プロダクトB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79" y="4078224"/>
            <a:ext cx="1325880" cy="475488"/>
          </a:xfrm>
          <a:prstGeom prst="roundRect">
            <a:avLst>
              <a:gd name="adj" fmla="val 12000"/>
            </a:avLst>
          </a:prstGeom>
          <a:solidFill>
            <a:srgbClr val="93B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＋プロダクトC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79" y="576072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3年目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20840" y="3474720"/>
            <a:ext cx="4922215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59" y="3657600"/>
            <a:ext cx="4373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単一プロダクトの解約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3977639"/>
            <a:ext cx="4373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発生しても影響は限定的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20840" y="4846320"/>
            <a:ext cx="4922215" cy="13258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59" y="5010912"/>
            <a:ext cx="4373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4A3B8"/>
                </a:solidFill>
                <a:latin typeface="Meiryo"/>
                <a:ea typeface="Meiryo"/>
                <a:cs typeface="Meiryo"/>
              </a:rPr>
              <a:t>1税理士あたり ARPU・利用プロダクト数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59" y="5321808"/>
            <a:ext cx="4373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年々拡大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59" y="5715000"/>
            <a:ext cx="43735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93B4F7"/>
                </a:solidFill>
                <a:latin typeface="Meiryo"/>
                <a:ea typeface="Meiryo"/>
                <a:cs typeface="Meiryo"/>
              </a:rPr>
              <a:t>＝ 全体でネガティブ・チャーンを達成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軸2 ｜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スイッチングコストと高定着性の根拠</a:t>
            </a:r>
          </a:p>
        </p:txBody>
      </p:sp>
      <p:pic>
        <p:nvPicPr>
          <p:cNvPr id="4" name="Picture 3" descr="taxel_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11480"/>
            <a:ext cx="1333416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03120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業務インフラ化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39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導入6か月超で、日常業務フローに完全定着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3977639"/>
            <a:ext cx="4297680" cy="0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60120" y="3840480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導入</a:t>
            </a:r>
          </a:p>
        </p:txBody>
      </p:sp>
      <p:sp>
        <p:nvSpPr>
          <p:cNvPr id="13" name="Oval 12"/>
          <p:cNvSpPr/>
          <p:nvPr/>
        </p:nvSpPr>
        <p:spPr>
          <a:xfrm>
            <a:off x="3108960" y="384048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34747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6か月</a:t>
            </a:r>
          </a:p>
        </p:txBody>
      </p:sp>
      <p:sp>
        <p:nvSpPr>
          <p:cNvPr id="15" name="Oval 14"/>
          <p:cNvSpPr/>
          <p:nvPr/>
        </p:nvSpPr>
        <p:spPr>
          <a:xfrm>
            <a:off x="5257800" y="3840480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747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定着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526280"/>
            <a:ext cx="1463039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経理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4526280"/>
            <a:ext cx="1463039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決済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4526280"/>
            <a:ext cx="1463039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リスク管理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120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スイッチングコスト上昇 → 解約率が急減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1783080"/>
            <a:ext cx="5394960" cy="4343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21031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2103120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税理士によるサクセスサポート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834639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顧問税理士が「実質的なCS担当」として機能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65392" y="3383280"/>
            <a:ext cx="47548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3474720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決算・財務を把握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3785616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顧客の状況を最も理解する立場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65392" y="4251960"/>
            <a:ext cx="47548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4343400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継続的に関与・提案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4654296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定例の顧問業務の中で活用を促進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5392" y="5120640"/>
            <a:ext cx="47548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93992" y="5212079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CSコスト抑制 × 高定着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3992" y="5522976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自社CSに依存しない定着モデル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軸3 ｜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ユニットエコノミクス（LTV / CAC）の拡大ストーリー</a:t>
            </a:r>
          </a:p>
        </p:txBody>
      </p:sp>
      <p:pic>
        <p:nvPicPr>
          <p:cNvPr id="4" name="Picture 3" descr="taxel_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11480"/>
            <a:ext cx="1333416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4937760" cy="4343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1168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LTV / CAC 倍率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初年度 → 3年目（6倍以上を目標）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59" y="2697480"/>
          <a:ext cx="43891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46120" y="2743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6倍以上へ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783080"/>
            <a:ext cx="5790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倍率を押し上げる3つのドライバー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194560"/>
            <a:ext cx="1808378" cy="1691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377440"/>
            <a:ext cx="1351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CAC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34640"/>
            <a:ext cx="13511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Meiryo"/>
                <a:ea typeface="Meiryo"/>
                <a:cs typeface="Meiryo"/>
              </a:rPr>
              <a:t>税理士チャネル活用で劇的に低位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43418" y="2194560"/>
            <a:ext cx="1808378" cy="1691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2018" y="2377440"/>
            <a:ext cx="1351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初期解約率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2018" y="2834640"/>
            <a:ext cx="13511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Meiryo"/>
                <a:ea typeface="Meiryo"/>
                <a:cs typeface="Meiryo"/>
              </a:rPr>
              <a:t>導入初期の離脱を抑制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34676" y="2194560"/>
            <a:ext cx="1808378" cy="1691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63276" y="2377440"/>
            <a:ext cx="1351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クロスセル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63276" y="2834640"/>
            <a:ext cx="13511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Meiryo"/>
                <a:ea typeface="Meiryo"/>
                <a:cs typeface="Meiryo"/>
              </a:rPr>
              <a:t>1社あたりLTVを継続的に拡大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4114800"/>
            <a:ext cx="5790895" cy="2011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297680"/>
            <a:ext cx="5150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4A3B8"/>
                </a:solidFill>
                <a:latin typeface="Meiryo"/>
                <a:ea typeface="Meiryo"/>
                <a:cs typeface="Meiryo"/>
              </a:rPr>
              <a:t>PAYBACK PERIOD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617720"/>
            <a:ext cx="51508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CAC回収期間が極めて短い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5212080"/>
            <a:ext cx="51508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93B4F7"/>
                </a:solidFill>
                <a:latin typeface="Meiryo"/>
                <a:ea typeface="Meiryo"/>
                <a:cs typeface="Meiryo"/>
              </a:rPr>
              <a:t>回収後の利益がストックとして積み上がる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軸4 ｜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シナリオ分析による実現可能性（ベースライン vs アップサイド）</a:t>
            </a:r>
          </a:p>
        </p:txBody>
      </p:sp>
      <p:pic>
        <p:nvPicPr>
          <p:cNvPr id="4" name="Picture 3" descr="taxel_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11480"/>
            <a:ext cx="1333416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291840" cy="4343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eiryo"/>
                <a:ea typeface="Meiryo"/>
                <a:cs typeface="Meiryo"/>
              </a:rPr>
              <a:t>BASE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ベースライン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273552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Meiryo"/>
                <a:ea typeface="Meiryo"/>
                <a:cs typeface="Meiryo"/>
              </a:rPr>
              <a:t>解約率 2.0% 固定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142232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6908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Meiryo"/>
                <a:ea typeface="Meiryo"/>
                <a:cs typeface="Meiryo"/>
              </a:rPr>
              <a:t>クロスセル なし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010912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93776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保守的な下限値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783080"/>
            <a:ext cx="3291840" cy="4343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10312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BEAFE"/>
                </a:solidFill>
                <a:latin typeface="Meiryo"/>
                <a:ea typeface="Meiryo"/>
                <a:cs typeface="Meiryo"/>
              </a:rPr>
              <a:t>UPSIDE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4231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アップサイド</a:t>
            </a:r>
          </a:p>
        </p:txBody>
      </p:sp>
      <p:sp>
        <p:nvSpPr>
          <p:cNvPr id="18" name="Oval 17"/>
          <p:cNvSpPr/>
          <p:nvPr/>
        </p:nvSpPr>
        <p:spPr>
          <a:xfrm>
            <a:off x="4434840" y="3273552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20040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初期解約率の低下</a:t>
            </a:r>
          </a:p>
        </p:txBody>
      </p:sp>
      <p:sp>
        <p:nvSpPr>
          <p:cNvPr id="20" name="Oval 19"/>
          <p:cNvSpPr/>
          <p:nvPr/>
        </p:nvSpPr>
        <p:spPr>
          <a:xfrm>
            <a:off x="4434840" y="4142232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06908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税理士経由のクロスセル</a:t>
            </a:r>
          </a:p>
        </p:txBody>
      </p:sp>
      <p:sp>
        <p:nvSpPr>
          <p:cNvPr id="22" name="Oval 21"/>
          <p:cNvSpPr/>
          <p:nvPr/>
        </p:nvSpPr>
        <p:spPr>
          <a:xfrm>
            <a:off x="4434840" y="5010912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93776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実効LTV ＋30〜50%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1783080"/>
            <a:ext cx="3962095" cy="4343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2103120"/>
            <a:ext cx="3322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実効LTV（ベースライン＝100）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3947160"/>
            <a:ext cx="1097280" cy="149352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535679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Meiryo"/>
                <a:ea typeface="Meiryo"/>
                <a:cs typeface="Meiryo"/>
              </a:rPr>
              <a:t>100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22815" y="3499104"/>
            <a:ext cx="1097280" cy="1941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22815" y="3200400"/>
            <a:ext cx="1097280" cy="298704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48495" y="2788920"/>
            <a:ext cx="16459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130〜150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550408"/>
            <a:ext cx="16459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ベースライン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8495" y="5550408"/>
            <a:ext cx="16459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アップサイド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2468880"/>
            <a:ext cx="33220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ベースラインを下限に、上振れ余地を提示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xel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457200"/>
            <a:ext cx="1453896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94A3B8"/>
                </a:solidFill>
                <a:latin typeface="Meiryo"/>
                <a:ea typeface="Meiryo"/>
                <a:cs typeface="Meiryo"/>
              </a:rPr>
              <a:t>単体SaaSではなく</a:t>
            </a:r>
          </a:p>
          <a:p>
            <a:pPr algn="l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「税理士プラットフォーム」としての構造的優位性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獲得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低CAC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Meiryo"/>
                <a:ea typeface="Meiryo"/>
                <a:cs typeface="Meiryo"/>
              </a:rPr>
              <a:t>税理士チャネルで効率的に獲得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98648" y="3602735"/>
            <a:ext cx="274320" cy="29260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269748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971800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定着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38328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高い定着性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977639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Meiryo"/>
                <a:ea typeface="Meiryo"/>
                <a:cs typeface="Meiryo"/>
              </a:rPr>
              <a:t>業務インフラ化＋税理士CS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550408" y="3602735"/>
            <a:ext cx="274320" cy="29260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0" y="269748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971800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拡張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38328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クロスセル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977639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Meiryo"/>
                <a:ea typeface="Meiryo"/>
                <a:cs typeface="Meiryo"/>
              </a:rPr>
              <a:t>同一税理士経由で横展開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202168" y="3602735"/>
            <a:ext cx="274320" cy="29260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5360" y="2697480"/>
            <a:ext cx="3047695" cy="2103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2971800"/>
            <a:ext cx="24990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BEAFE"/>
                </a:solidFill>
                <a:latin typeface="Meiryo"/>
                <a:ea typeface="Meiryo"/>
                <a:cs typeface="Meiryo"/>
              </a:rPr>
              <a:t>結果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383280"/>
            <a:ext cx="24990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ネガティブ・チャーン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977639"/>
            <a:ext cx="24990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BEAFE"/>
                </a:solidFill>
                <a:latin typeface="Meiryo"/>
                <a:ea typeface="Meiryo"/>
                <a:cs typeface="Meiryo"/>
              </a:rPr>
              <a:t>LTVが時間とともに拡大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57800"/>
            <a:ext cx="11002975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257800"/>
            <a:ext cx="1036289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税理士1事務所の獲得が、顧問先×複数プロダクトの収益へ波及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