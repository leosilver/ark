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LTV/CAC</c:v>
                </c:pt>
              </c:strCache>
            </c:strRef>
          </c:tx>
          <c:spPr>
            <a:solidFill>
              <a:srgbClr val="2563EB"/>
            </a:solidFill>
          </c:spPr>
          <c:dPt>
            <c:idx val="0"/>
            <c:spPr>
              <a:solidFill>
                <a:srgbClr val="0F172A"/>
              </a:solidFill>
            </c:spPr>
          </c:dPt>
          <c:cat>
            <c:strRef>
              <c:f>Sheet1!$A$2:$A$3</c:f>
              <c:strCache>
                <c:ptCount val="2"/>
                <c:pt idx="0">
                  <c:v>初年度</c:v>
                </c:pt>
                <c:pt idx="1">
                  <c:v>3年目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</c:v>
                </c:pt>
                <c:pt idx="1">
                  <c:v>6</c:v>
                </c:pt>
              </c:numCache>
            </c:numRef>
          </c:val>
        </c:ser>
        <c:dLbls>
          <c:numFmt formatCode="0&quot;倍&quot;" sourceLinked="0"/>
          <c:txPr>
            <a:bodyPr/>
            <a:lstStyle/>
            <a:p>
              <a:pPr>
                <a:defRPr sz="2000" b="1">
                  <a:solidFill>
                    <a:srgbClr val="0F172A"/>
                  </a:solidFill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2E8F0"/>
            </a:solidFill>
          </a:ln>
        </c:spPr>
        <c:txPr>
          <a:bodyPr/>
          <a:lstStyle/>
          <a:p>
            <a:pPr>
              <a:defRPr sz="1300">
                <a:solidFill>
                  <a:srgbClr val="0F172A"/>
                </a:solidFill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xel_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183344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828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投資家向け補足資料｜ユニットエコノミクス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ネガティブ・チャーン &amp; LTV向上の説得ロジック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税理士チャネルが生む「構造的な」収益拡大を4つの軸で証明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80560"/>
            <a:ext cx="54864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2087803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構造的クロスセル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7963" y="4480560"/>
            <a:ext cx="54864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916603" y="4480560"/>
            <a:ext cx="2087803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スイッチングコスト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4480560"/>
            <a:ext cx="54864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35927" y="4480560"/>
            <a:ext cx="2087803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LTV / CAC 拡大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611" y="4480560"/>
            <a:ext cx="548640" cy="731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55251" y="4480560"/>
            <a:ext cx="2087803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シナリオ分析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5875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taXel（タクセル）｜2026年9月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概要｜投資家が求める「Why &amp; How」の証明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ネガティブ・チャーンは「期待」ではなく「構造」で説明できる</a:t>
            </a:r>
          </a:p>
        </p:txBody>
      </p:sp>
      <p:pic>
        <p:nvPicPr>
          <p:cNvPr id="4" name="Picture 3" descr="taxel_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11480"/>
            <a:ext cx="1200075" cy="329184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5875">
            <a:solidFill>
              <a:srgbClr val="E2E8F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taXel｜投資家向け補足資料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1094415" cy="5943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投資家の問い：なぜ解約が起きても、既存顧客からの売上は伸び続けるのか？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3108960" cy="54864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651760"/>
            <a:ext cx="3108960" cy="54864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問い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651760"/>
            <a:ext cx="4876495" cy="548640"/>
          </a:xfrm>
          <a:prstGeom prst="rect">
            <a:avLst/>
          </a:prstGeom>
          <a:solidFill>
            <a:srgbClr val="2563EB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答え（要点）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3108960" cy="54864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  構造的クロスセル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3200400"/>
            <a:ext cx="310896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How：どう伸びるか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3200400"/>
            <a:ext cx="487649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税理士経由で利用プロダクト数が拡大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49039"/>
            <a:ext cx="3108960" cy="54864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2  スイッチングコスト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3749039"/>
            <a:ext cx="310896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Why：なぜ辞めないか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749039"/>
            <a:ext cx="487649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業務インフラ化 ＋ 税理士によるCS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97679"/>
            <a:ext cx="3108960" cy="54864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3  LTV / CAC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4297679"/>
            <a:ext cx="310896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Proof：数字で示せるか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4297679"/>
            <a:ext cx="487649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初年度3倍 → 3年目6倍以上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46320"/>
            <a:ext cx="3108960" cy="54864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4  シナリオ分析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4846320"/>
            <a:ext cx="310896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Risk：下振れ時は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4846320"/>
            <a:ext cx="487649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保守的な下限とアップサイドを両提示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0680"/>
            <a:ext cx="118872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5440680"/>
            <a:ext cx="9905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4軸すべてが「税理士チャネル」という1つの構造から生まれる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軸1｜構造的なクロスセルの仕組み（税理士チャネルの横展開）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1事務所の獲得が、同一税理士経由のクロスセルへ連鎖する</a:t>
            </a:r>
          </a:p>
        </p:txBody>
      </p:sp>
      <p:pic>
        <p:nvPicPr>
          <p:cNvPr id="4" name="Picture 3" descr="taxel_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11480"/>
            <a:ext cx="1200075" cy="329184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5875">
            <a:solidFill>
              <a:srgbClr val="E2E8F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taXel｜投資家向け補足資料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2430703" cy="914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税理士事務所を獲得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3070783" y="2112264"/>
            <a:ext cx="365760" cy="25603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36543" y="1783080"/>
            <a:ext cx="2430703" cy="914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1プロダクトで導入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5958687" y="2112264"/>
            <a:ext cx="365760" cy="25603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1783080"/>
            <a:ext cx="2430703" cy="914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信頼関係の構築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8846591" y="2112264"/>
            <a:ext cx="365760" cy="25603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12351" y="1783080"/>
            <a:ext cx="2430703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228600" rIns="228600" tIns="0" bIns="0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他プロダクトへ展開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17520"/>
            <a:ext cx="5669280" cy="2148840"/>
          </a:xfrm>
          <a:prstGeom prst="rect">
            <a:avLst/>
          </a:prstGeom>
          <a:noFill/>
          <a:ln w="1587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54679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1税理士あたり利用プロダクト数（イメージ）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4352544"/>
            <a:ext cx="137160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45720" rIns="45720" tIns="0" bIns="0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プロダクトA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280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1年目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4352544"/>
            <a:ext cx="137160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45720" rIns="45720" tIns="0" bIns="0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プロダクトA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3950208"/>
            <a:ext cx="137160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45720" rIns="45720" tIns="0" bIns="0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＋プロダクトB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8280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2年目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80" y="4352544"/>
            <a:ext cx="1371600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45720" rIns="45720" tIns="0" bIns="0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プロダクトA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80" y="3950208"/>
            <a:ext cx="137160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45720" rIns="45720" tIns="0" bIns="0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＋プロダクトB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3547872"/>
            <a:ext cx="1371600" cy="3657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45720" rIns="45720" tIns="0" bIns="0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＋プロダクトC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8280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3年目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017520"/>
            <a:ext cx="2286000" cy="53721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3017520"/>
            <a:ext cx="2864815" cy="537210"/>
          </a:xfrm>
          <a:prstGeom prst="rect">
            <a:avLst/>
          </a:prstGeom>
          <a:solidFill>
            <a:srgbClr val="2563EB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影響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554729"/>
            <a:ext cx="2286000" cy="53721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単一プロダクトの解約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3554729"/>
            <a:ext cx="2864815" cy="53721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発生しても影響は限定的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091939"/>
            <a:ext cx="2286000" cy="53721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1税理士あたりARPU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4091939"/>
            <a:ext cx="2864815" cy="53721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年々拡大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4629150"/>
            <a:ext cx="2286000" cy="53721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利用プロダクト数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0" y="4629150"/>
            <a:ext cx="2864815" cy="53721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年々拡大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440680"/>
            <a:ext cx="118872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37360" y="5440680"/>
            <a:ext cx="9905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拡大が解約を上回り、全体としてネガティブ・チャーンを達成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軸2｜スイッチングコストと高定着性の根拠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導入6か月で業務インフラ化し、税理士CSが定着を支える</a:t>
            </a:r>
          </a:p>
        </p:txBody>
      </p:sp>
      <p:pic>
        <p:nvPicPr>
          <p:cNvPr id="4" name="Picture 3" descr="taxel_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11480"/>
            <a:ext cx="1200075" cy="329184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5875">
            <a:solidFill>
              <a:srgbClr val="E2E8F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taXel｜投資家向け補足資料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48640" cy="5486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1783080"/>
            <a:ext cx="4861407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業務インフラ化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783080"/>
            <a:ext cx="548640" cy="5486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81647" y="1783080"/>
            <a:ext cx="4861407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税理士によるサクセスサポート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3017520"/>
            <a:ext cx="4495647" cy="0"/>
          </a:xfrm>
          <a:prstGeom prst="line">
            <a:avLst/>
          </a:prstGeom>
          <a:ln w="25400">
            <a:solidFill>
              <a:srgbClr val="0F172A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96112" y="2907791"/>
            <a:ext cx="219456" cy="219456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導入</a:t>
            </a:r>
          </a:p>
        </p:txBody>
      </p:sp>
      <p:sp>
        <p:nvSpPr>
          <p:cNvPr id="15" name="Oval 14"/>
          <p:cNvSpPr/>
          <p:nvPr/>
        </p:nvSpPr>
        <p:spPr>
          <a:xfrm>
            <a:off x="3143935" y="2907791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2143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6か月</a:t>
            </a:r>
          </a:p>
        </p:txBody>
      </p:sp>
      <p:sp>
        <p:nvSpPr>
          <p:cNvPr id="17" name="Oval 16"/>
          <p:cNvSpPr/>
          <p:nvPr/>
        </p:nvSpPr>
        <p:spPr>
          <a:xfrm>
            <a:off x="5391759" y="2907791"/>
            <a:ext cx="219456" cy="219456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9967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定着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37560"/>
            <a:ext cx="54100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日常の業務フローに完全に組み込み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49039"/>
            <a:ext cx="1681429" cy="457200"/>
          </a:xfrm>
          <a:prstGeom prst="rect">
            <a:avLst/>
          </a:prstGeom>
          <a:noFill/>
          <a:ln w="15875">
            <a:solidFill>
              <a:srgbClr val="0F172A"/>
            </a:solidFill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経理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2949" y="3749039"/>
            <a:ext cx="1681429" cy="457200"/>
          </a:xfrm>
          <a:prstGeom prst="rect">
            <a:avLst/>
          </a:prstGeom>
          <a:noFill/>
          <a:ln w="15875">
            <a:solidFill>
              <a:srgbClr val="0F172A"/>
            </a:solidFill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決済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7258" y="3749039"/>
            <a:ext cx="1681429" cy="457200"/>
          </a:xfrm>
          <a:prstGeom prst="rect">
            <a:avLst/>
          </a:prstGeom>
          <a:noFill/>
          <a:ln w="15875">
            <a:solidFill>
              <a:srgbClr val="0F172A"/>
            </a:solidFill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リスク管理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34840"/>
            <a:ext cx="5410047" cy="502920"/>
          </a:xfrm>
          <a:prstGeom prst="rect">
            <a:avLst/>
          </a:prstGeom>
          <a:noFill/>
          <a:ln w="15875">
            <a:solidFill>
              <a:srgbClr val="2563EB"/>
            </a:solidFill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スイッチングコスト上昇 → 解約率が急減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560320"/>
            <a:ext cx="2377440" cy="59436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税理士の役割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10447" y="2560320"/>
            <a:ext cx="3032607" cy="594360"/>
          </a:xfrm>
          <a:prstGeom prst="rect">
            <a:avLst/>
          </a:prstGeom>
          <a:solidFill>
            <a:srgbClr val="2563EB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効果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3154679"/>
            <a:ext cx="2377440" cy="59436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決算・財務を把握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10447" y="3154679"/>
            <a:ext cx="3032607" cy="59436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顧客状況を最も理解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3749039"/>
            <a:ext cx="2377440" cy="59436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継続的に関与・提案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0447" y="3749039"/>
            <a:ext cx="3032607" cy="59436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顧問業務の中で活用を促進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3007" y="4343400"/>
            <a:ext cx="2377440" cy="59436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実質的なCS担当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10447" y="4343400"/>
            <a:ext cx="3032607" cy="59436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CSコスト抑制 × 高定着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440680"/>
            <a:ext cx="118872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7360" y="5440680"/>
            <a:ext cx="9905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定着の仕組みがプロダクトと税理士の両面に組み込まれている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軸3｜ユニットエコノミクス（LTV / CAC）の拡大ストーリー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LTV / CAC は初年度3倍から、3年目に6倍以上へ拡大する</a:t>
            </a:r>
          </a:p>
        </p:txBody>
      </p:sp>
      <p:pic>
        <p:nvPicPr>
          <p:cNvPr id="4" name="Picture 3" descr="taxel_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11480"/>
            <a:ext cx="1200075" cy="329184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5875">
            <a:solidFill>
              <a:srgbClr val="E2E8F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taXel｜投資家向け補足資料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4754880" cy="3383280"/>
          </a:xfrm>
          <a:prstGeom prst="rect">
            <a:avLst/>
          </a:prstGeom>
          <a:noFill/>
          <a:ln w="1587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LTV / CAC 倍率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79" y="192024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3年目は6倍以上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77240" y="2240280"/>
          <a:ext cx="4297680" cy="2788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5577840" y="1783080"/>
            <a:ext cx="1645920" cy="50292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ドライバー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59" y="1783080"/>
            <a:ext cx="2194560" cy="50292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打ち手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19" y="1783080"/>
            <a:ext cx="2224735" cy="502920"/>
          </a:xfrm>
          <a:prstGeom prst="rect">
            <a:avLst/>
          </a:prstGeom>
          <a:solidFill>
            <a:srgbClr val="2563EB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効果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2286000"/>
            <a:ext cx="1645920" cy="50292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CAC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59" y="2286000"/>
            <a:ext cx="21945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税理士チャネルの活用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19" y="2286000"/>
            <a:ext cx="2224735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劇的に低く抑制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7840" y="2788920"/>
            <a:ext cx="1645920" cy="50292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初期解約率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59" y="2788920"/>
            <a:ext cx="21945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導入初期の定着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19" y="2788920"/>
            <a:ext cx="2224735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早期離脱を抑制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77840" y="3291840"/>
            <a:ext cx="1645920" cy="50292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クロスセル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59" y="3291840"/>
            <a:ext cx="21945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同一税理士経由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19" y="3291840"/>
            <a:ext cx="2224735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1社あたりLTV拡大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77840" y="4023360"/>
            <a:ext cx="1645920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Payback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Period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59" y="4023360"/>
            <a:ext cx="4419295" cy="1143000"/>
          </a:xfrm>
          <a:prstGeom prst="rect">
            <a:avLst/>
          </a:prstGeom>
          <a:noFill/>
          <a:ln w="15875">
            <a:solidFill>
              <a:srgbClr val="E2E8F0"/>
            </a:solidFill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CAC回収期間が極めて短い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回収後の利益がストックとして積み上がる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440680"/>
            <a:ext cx="118872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7360" y="5440680"/>
            <a:ext cx="9905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低CAC × 解約率低下 × クロスセルで、倍率は年々改善する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軸4｜シナリオ分析による実現可能性（ベースライン vs アップサイド）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保守的な下限に対し、実効LTVは＋30〜50%の上振れ余地</a:t>
            </a:r>
          </a:p>
        </p:txBody>
      </p:sp>
      <p:pic>
        <p:nvPicPr>
          <p:cNvPr id="4" name="Picture 3" descr="taxel_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11480"/>
            <a:ext cx="1200075" cy="329184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5875">
            <a:solidFill>
              <a:srgbClr val="E2E8F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taXel｜投資家向け補足資料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645920" cy="676656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783080"/>
            <a:ext cx="2011680" cy="676656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ベースライン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783080"/>
            <a:ext cx="3291839" cy="676656"/>
          </a:xfrm>
          <a:prstGeom prst="rect">
            <a:avLst/>
          </a:prstGeom>
          <a:solidFill>
            <a:srgbClr val="2563EB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アップサイド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59736"/>
            <a:ext cx="1645920" cy="676656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位置づけ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459736"/>
            <a:ext cx="2011680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保守的な下限値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459736"/>
            <a:ext cx="3291839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ネガティブ・チャーン事例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36391"/>
            <a:ext cx="1645920" cy="676656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解約率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3136391"/>
            <a:ext cx="2011680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2.0% 固定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3136391"/>
            <a:ext cx="3291839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初期解約率が低下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13048"/>
            <a:ext cx="1645920" cy="676656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クロスセル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3813048"/>
            <a:ext cx="2011680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なし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813048"/>
            <a:ext cx="3291839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税理士経由で進展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89704"/>
            <a:ext cx="1645920" cy="676656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実効LTV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0" y="4489704"/>
            <a:ext cx="2011680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100（基準）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4489704"/>
            <a:ext cx="3291839" cy="676656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130〜150（+30〜50%）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1783080"/>
            <a:ext cx="3870655" cy="3383280"/>
          </a:xfrm>
          <a:prstGeom prst="rect">
            <a:avLst/>
          </a:prstGeom>
          <a:noFill/>
          <a:ln w="1587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1920240"/>
            <a:ext cx="3413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実効LTV（ベースライン＝100）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3307080"/>
            <a:ext cx="1005840" cy="1402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34295" y="2886456"/>
            <a:ext cx="1005840" cy="18227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34295" y="2606040"/>
            <a:ext cx="1005840" cy="280416"/>
          </a:xfrm>
          <a:prstGeom prst="rect">
            <a:avLst/>
          </a:prstGeom>
          <a:solidFill>
            <a:srgbClr val="E2E8F0"/>
          </a:solidFill>
          <a:ln w="1587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292303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8535" y="2221992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130〜150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46720" y="4709160"/>
            <a:ext cx="3322015" cy="0"/>
          </a:xfrm>
          <a:prstGeom prst="line">
            <a:avLst/>
          </a:prstGeom>
          <a:ln w="15875">
            <a:solidFill>
              <a:srgbClr val="0F172A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8001000" y="47823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ベースライン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9975" y="47823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アップサイド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440680"/>
            <a:ext cx="118872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7360" y="5440680"/>
            <a:ext cx="9905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下限で計画を語り、上振れは構造的な余地として示す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単体SaaSではなく「税理士プラットフォーム」としての構造的優位性</a:t>
            </a:r>
          </a:p>
        </p:txBody>
      </p:sp>
      <p:pic>
        <p:nvPicPr>
          <p:cNvPr id="4" name="Picture 3" descr="taxel_logo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11480"/>
            <a:ext cx="1200075" cy="329184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15875">
            <a:solidFill>
              <a:srgbClr val="E2E8F0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taXel｜投資家向け補足資料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2430703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獲得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2430703" cy="1371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低CAC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税理士チャネルで効率的に獲得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079927" y="2697480"/>
            <a:ext cx="365760" cy="25603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36543" y="1783080"/>
            <a:ext cx="2430703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定着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430703" cy="1371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高い定着性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業務インフラ化＋税理士CS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5967831" y="2697480"/>
            <a:ext cx="365760" cy="25603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4447" y="1783080"/>
            <a:ext cx="2430703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拡張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24447" y="2240280"/>
            <a:ext cx="2430703" cy="1371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クロスセル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同一税理士経由で横展開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8855735" y="2697480"/>
            <a:ext cx="365760" cy="256032"/>
          </a:xfrm>
          <a:prstGeom prst="triangle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2351" y="1783080"/>
            <a:ext cx="2430703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2351" y="2240280"/>
            <a:ext cx="2430703" cy="1371600"/>
          </a:xfrm>
          <a:prstGeom prst="rect">
            <a:avLst/>
          </a:prstGeom>
          <a:noFill/>
          <a:ln w="15875">
            <a:solidFill>
              <a:srgbClr val="2563EB"/>
            </a:solidFill>
          </a:ln>
        </p:spPr>
        <p:txBody>
          <a:bodyPr rtlCol="0" anchor="ctr" wrap="square" lIns="137160" rIns="137160" tIns="0" bIns="0"/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ネガティブ・チャーン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LTVが時間とともに拡大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86200"/>
            <a:ext cx="2194560" cy="45720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比較軸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3886200"/>
            <a:ext cx="3474720" cy="457200"/>
          </a:xfrm>
          <a:prstGeom prst="rect">
            <a:avLst/>
          </a:prstGeom>
          <a:solidFill>
            <a:srgbClr val="0F172A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単体SaaS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886200"/>
            <a:ext cx="5425135" cy="457200"/>
          </a:xfrm>
          <a:prstGeom prst="rect">
            <a:avLst/>
          </a:prstGeom>
          <a:solidFill>
            <a:srgbClr val="2563EB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税理士プラットフォーム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43400"/>
            <a:ext cx="2194560" cy="45720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顧客獲得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4343400"/>
            <a:ext cx="347472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1社ずつ個別に獲得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4343400"/>
            <a:ext cx="5425135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税理士1事務所から顧問先へ波及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00600"/>
            <a:ext cx="2194560" cy="457200"/>
          </a:xfrm>
          <a:prstGeom prst="rect">
            <a:avLst/>
          </a:prstGeom>
          <a:solidFill>
            <a:srgbClr val="E2E8F0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収益の伸び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4800600"/>
            <a:ext cx="347472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F172A"/>
                </a:solidFill>
                <a:latin typeface="游ゴシック"/>
                <a:ea typeface="游ゴシック"/>
                <a:cs typeface="游ゴシック"/>
              </a:rPr>
              <a:t>1プロダクトに依存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800600"/>
            <a:ext cx="5425135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</p:spPr>
        <p:txBody>
          <a:bodyPr rtlCol="0" anchor="ctr" wrap="square" lIns="182880" rIns="182880" tIns="0" bIns="0"/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游ゴシック"/>
                <a:ea typeface="游ゴシック"/>
                <a:cs typeface="游ゴシック"/>
              </a:rPr>
              <a:t>複数プロダクトで拡大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40680"/>
            <a:ext cx="118872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5440680"/>
            <a:ext cx="9905695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 wrap="square" lIns="274320" rIns="274320" tIns="0" bIns="0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税理士1事務所の獲得が、顧問先 × 複数プロダクトの収益へ波及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